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McKinley Smit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18-11-16T01:59:17.424">
    <p:pos x="3732" y="1971"/>
    <p:text>move down level</p:text>
  </p:cm>
  <p:cm authorId="0" idx="2" dt="2018-11-16T01:56:07.027">
    <p:pos x="3732" y="1354"/>
    <p:text>dossier --&gt; company --&gt; individual --&gt; record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bc1127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bc1127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2adaa17b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2adaa17b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2e536d4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2e536d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2adaa17b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2adaa17b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2adaa17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2adaa17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2e536d45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2e536d45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2adaa17b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2adaa17b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2adaa17b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2adaa17b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2adaa17b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2adaa17b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bc1127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7bc112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2e536d45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2e536d45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7bc112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7bc112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mith.mckinley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anniecannons.org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r>
              <a:rPr b="1" lang="en"/>
              <a:t>Anita</a:t>
            </a:r>
            <a:endParaRPr b="1"/>
          </a:p>
        </p:txBody>
      </p:sp>
      <p:sp>
        <p:nvSpPr>
          <p:cNvPr id="55" name="Google Shape;55;p13"/>
          <p:cNvSpPr txBox="1"/>
          <p:nvPr/>
        </p:nvSpPr>
        <p:spPr>
          <a:xfrm>
            <a:off x="76725" y="48900"/>
            <a:ext cx="22659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</a:t>
            </a:r>
            <a:r>
              <a:rPr b="1" lang="en">
                <a:solidFill>
                  <a:srgbClr val="FF0000"/>
                </a:solidFill>
              </a:rPr>
              <a:t>1 DRAFT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MVP Wireframes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672650" y="4573550"/>
            <a:ext cx="24714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Contact: McKinley Smith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smith.mckinley@gmail.com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b="1" lang="en"/>
              <a:t>Anita?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Anita</a:t>
            </a:r>
            <a:r>
              <a:rPr lang="en">
                <a:solidFill>
                  <a:srgbClr val="000000"/>
                </a:solidFill>
              </a:rPr>
              <a:t> allows victims of workplace sexual harassment to document their experiences in time-stamped records -- culminating in </a:t>
            </a:r>
            <a:r>
              <a:rPr b="1" lang="en">
                <a:solidFill>
                  <a:srgbClr val="000000"/>
                </a:solidFill>
              </a:rPr>
              <a:t>an electronic dossier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dossier can then be used to support claims filed with third parties.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The purpose is to </a:t>
            </a:r>
            <a:r>
              <a:rPr b="1" lang="en">
                <a:solidFill>
                  <a:srgbClr val="000000"/>
                </a:solidFill>
              </a:rPr>
              <a:t>empower victims with the documentation they will need to strengthen their case.  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76725" y="48900"/>
            <a:ext cx="22659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DRAFT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MVP Wireframes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Wireframes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230300" y="445025"/>
            <a:ext cx="460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First-Time Onboarding Screen</a:t>
            </a:r>
            <a:endParaRPr b="1"/>
          </a:p>
        </p:txBody>
      </p:sp>
      <p:sp>
        <p:nvSpPr>
          <p:cNvPr id="74" name="Google Shape;74;p16"/>
          <p:cNvSpPr/>
          <p:nvPr/>
        </p:nvSpPr>
        <p:spPr>
          <a:xfrm>
            <a:off x="1102425" y="208200"/>
            <a:ext cx="2885700" cy="472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 rot="-5400245">
            <a:off x="25206" y="2314822"/>
            <a:ext cx="4214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CECECE"/>
                </a:solidFill>
              </a:rPr>
              <a:t>DRAFT</a:t>
            </a:r>
            <a:endParaRPr sz="7200">
              <a:solidFill>
                <a:srgbClr val="CECECE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306725" y="445025"/>
            <a:ext cx="2605200" cy="26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</a:t>
            </a:r>
            <a:r>
              <a:rPr b="1" lang="en"/>
              <a:t>Anita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are facing sexual </a:t>
            </a:r>
            <a:r>
              <a:rPr lang="en"/>
              <a:t>harassment</a:t>
            </a:r>
            <a:r>
              <a:rPr lang="en"/>
              <a:t> in the workplace, Anita is here to help.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gather emails, screenshots, photos, and keep time-stamped notes all in one place. Well-organized documentation supports your case, and could help you get the justice you deserve.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by creating your dossier. You can add to it at anytime.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Let’s get started.</a:t>
            </a:r>
            <a:endParaRPr b="1"/>
          </a:p>
        </p:txBody>
      </p:sp>
      <p:sp>
        <p:nvSpPr>
          <p:cNvPr id="77" name="Google Shape;77;p16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DRAFT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2931225" y="208200"/>
            <a:ext cx="2885700" cy="472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5924620" y="208200"/>
            <a:ext cx="2885700" cy="472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3279525" y="1231150"/>
            <a:ext cx="2189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Anita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85" name="Google Shape;85;p17"/>
          <p:cNvSpPr txBox="1"/>
          <p:nvPr/>
        </p:nvSpPr>
        <p:spPr>
          <a:xfrm>
            <a:off x="6255125" y="469150"/>
            <a:ext cx="2189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Your Dossier</a:t>
            </a:r>
            <a:endParaRPr b="1" sz="2500"/>
          </a:p>
        </p:txBody>
      </p:sp>
      <p:sp>
        <p:nvSpPr>
          <p:cNvPr id="86" name="Google Shape;86;p17"/>
          <p:cNvSpPr txBox="1"/>
          <p:nvPr/>
        </p:nvSpPr>
        <p:spPr>
          <a:xfrm>
            <a:off x="3279525" y="2571750"/>
            <a:ext cx="2189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Login</a:t>
            </a:r>
            <a:endParaRPr b="1" sz="1200"/>
          </a:p>
        </p:txBody>
      </p:sp>
      <p:sp>
        <p:nvSpPr>
          <p:cNvPr id="87" name="Google Shape;87;p17"/>
          <p:cNvSpPr txBox="1"/>
          <p:nvPr/>
        </p:nvSpPr>
        <p:spPr>
          <a:xfrm>
            <a:off x="5924625" y="2149600"/>
            <a:ext cx="2885700" cy="979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Add Record</a:t>
            </a:r>
            <a:endParaRPr b="1" sz="2500"/>
          </a:p>
        </p:txBody>
      </p:sp>
      <p:sp>
        <p:nvSpPr>
          <p:cNvPr id="88" name="Google Shape;88;p17"/>
          <p:cNvSpPr txBox="1"/>
          <p:nvPr/>
        </p:nvSpPr>
        <p:spPr>
          <a:xfrm>
            <a:off x="5924625" y="3129492"/>
            <a:ext cx="2885700" cy="979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Assets</a:t>
            </a:r>
            <a:endParaRPr b="1" sz="2500"/>
          </a:p>
        </p:txBody>
      </p:sp>
      <p:sp>
        <p:nvSpPr>
          <p:cNvPr id="89" name="Google Shape;89;p17"/>
          <p:cNvSpPr txBox="1"/>
          <p:nvPr/>
        </p:nvSpPr>
        <p:spPr>
          <a:xfrm>
            <a:off x="8231800" y="219250"/>
            <a:ext cx="7251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</a:t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3275650" y="360600"/>
            <a:ext cx="2189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LOGO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91" name="Google Shape;91;p17"/>
          <p:cNvSpPr txBox="1"/>
          <p:nvPr/>
        </p:nvSpPr>
        <p:spPr>
          <a:xfrm>
            <a:off x="5924625" y="4490401"/>
            <a:ext cx="2885700" cy="4449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Make My Case</a:t>
            </a:r>
            <a:endParaRPr b="1" sz="2500"/>
          </a:p>
        </p:txBody>
      </p:sp>
      <p:sp>
        <p:nvSpPr>
          <p:cNvPr id="92" name="Google Shape;92;p17"/>
          <p:cNvSpPr txBox="1"/>
          <p:nvPr/>
        </p:nvSpPr>
        <p:spPr>
          <a:xfrm>
            <a:off x="175700" y="0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</a:t>
            </a:r>
            <a:r>
              <a:rPr b="1" lang="en">
                <a:solidFill>
                  <a:srgbClr val="FF0000"/>
                </a:solidFill>
              </a:rPr>
              <a:t>DRAFT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251925" y="1898550"/>
            <a:ext cx="257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Homescreen 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230300" y="445025"/>
            <a:ext cx="460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First-Time Dossier Onboarding Screen</a:t>
            </a:r>
            <a:endParaRPr b="1"/>
          </a:p>
        </p:txBody>
      </p:sp>
      <p:sp>
        <p:nvSpPr>
          <p:cNvPr id="99" name="Google Shape;99;p18"/>
          <p:cNvSpPr/>
          <p:nvPr/>
        </p:nvSpPr>
        <p:spPr>
          <a:xfrm>
            <a:off x="1102425" y="208200"/>
            <a:ext cx="2885700" cy="472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</a:t>
            </a:r>
            <a:r>
              <a:rPr b="1" lang="en">
                <a:solidFill>
                  <a:srgbClr val="FF0000"/>
                </a:solidFill>
              </a:rPr>
              <a:t>DRAFT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566575" y="402875"/>
            <a:ext cx="2081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Dossier</a:t>
            </a:r>
            <a:endParaRPr b="1" sz="2500"/>
          </a:p>
        </p:txBody>
      </p:sp>
      <p:sp>
        <p:nvSpPr>
          <p:cNvPr id="102" name="Google Shape;102;p18"/>
          <p:cNvSpPr txBox="1"/>
          <p:nvPr/>
        </p:nvSpPr>
        <p:spPr>
          <a:xfrm rot="-5400245">
            <a:off x="25206" y="2314822"/>
            <a:ext cx="4214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CECECE"/>
                </a:solidFill>
              </a:rPr>
              <a:t>DRAFT</a:t>
            </a:r>
            <a:endParaRPr sz="7200">
              <a:solidFill>
                <a:srgbClr val="CECECE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1248950" y="1207025"/>
            <a:ext cx="2605200" cy="26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aren’t alone. Anita has your back.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your dossier to capture time-stamped notes that document your experience. When possible, attach photos, screenshots, or written communication to </a:t>
            </a:r>
            <a:r>
              <a:rPr lang="en"/>
              <a:t>corroborate</a:t>
            </a:r>
            <a:r>
              <a:rPr lang="en"/>
              <a:t>  your notes.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you started, consider the following: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[checklist to optimize record keeping]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1331025" y="208200"/>
            <a:ext cx="2885700" cy="472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1718975" y="402875"/>
            <a:ext cx="2081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Dossier</a:t>
            </a:r>
            <a:endParaRPr b="1" sz="2500"/>
          </a:p>
        </p:txBody>
      </p:sp>
      <p:sp>
        <p:nvSpPr>
          <p:cNvPr id="110" name="Google Shape;110;p19"/>
          <p:cNvSpPr txBox="1"/>
          <p:nvPr/>
        </p:nvSpPr>
        <p:spPr>
          <a:xfrm>
            <a:off x="1584675" y="1423825"/>
            <a:ext cx="2430900" cy="11985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record: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What happened?</a:t>
            </a:r>
            <a:endParaRPr i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Were there witnesses? If so, who and did they say anything against the incident? Attach any pictures, screenshots, etc</a:t>
            </a:r>
            <a:endParaRPr i="1" sz="1000"/>
          </a:p>
        </p:txBody>
      </p:sp>
      <p:sp>
        <p:nvSpPr>
          <p:cNvPr id="111" name="Google Shape;111;p19"/>
          <p:cNvSpPr txBox="1"/>
          <p:nvPr/>
        </p:nvSpPr>
        <p:spPr>
          <a:xfrm>
            <a:off x="1584675" y="2800350"/>
            <a:ext cx="2430900" cy="832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[timestamp]: </a:t>
            </a:r>
            <a:r>
              <a:rPr i="1" lang="en"/>
              <a:t>Lorem ipsum dolor sit amet, consectetur adipiscing elit. </a:t>
            </a:r>
            <a:endParaRPr i="1"/>
          </a:p>
        </p:txBody>
      </p:sp>
      <p:sp>
        <p:nvSpPr>
          <p:cNvPr id="112" name="Google Shape;112;p19"/>
          <p:cNvSpPr/>
          <p:nvPr/>
        </p:nvSpPr>
        <p:spPr>
          <a:xfrm>
            <a:off x="2967925" y="2371525"/>
            <a:ext cx="1047600" cy="20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19"/>
          <p:cNvCxnSpPr>
            <a:stCxn id="112" idx="3"/>
          </p:cNvCxnSpPr>
          <p:nvPr/>
        </p:nvCxnSpPr>
        <p:spPr>
          <a:xfrm>
            <a:off x="4015525" y="2472325"/>
            <a:ext cx="20814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9"/>
          <p:cNvCxnSpPr>
            <a:stCxn id="110" idx="3"/>
          </p:cNvCxnSpPr>
          <p:nvPr/>
        </p:nvCxnSpPr>
        <p:spPr>
          <a:xfrm flipH="1" rot="10800000">
            <a:off x="4015575" y="1040575"/>
            <a:ext cx="1665300" cy="9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9"/>
          <p:cNvSpPr txBox="1"/>
          <p:nvPr/>
        </p:nvSpPr>
        <p:spPr>
          <a:xfrm>
            <a:off x="1584675" y="3790950"/>
            <a:ext cx="2430900" cy="832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[timestamp]: </a:t>
            </a:r>
            <a:r>
              <a:rPr i="1" lang="en"/>
              <a:t>Lorem ipsum dolor sit amet, consectetur adipiscing elit. </a:t>
            </a:r>
            <a:endParaRPr i="1"/>
          </a:p>
        </p:txBody>
      </p:sp>
      <p:sp>
        <p:nvSpPr>
          <p:cNvPr id="116" name="Google Shape;116;p19"/>
          <p:cNvSpPr txBox="1"/>
          <p:nvPr/>
        </p:nvSpPr>
        <p:spPr>
          <a:xfrm>
            <a:off x="2095000" y="4552950"/>
            <a:ext cx="1289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See more</a:t>
            </a:r>
            <a:endParaRPr i="1" sz="1300"/>
          </a:p>
        </p:txBody>
      </p:sp>
      <p:cxnSp>
        <p:nvCxnSpPr>
          <p:cNvPr id="117" name="Google Shape;117;p19"/>
          <p:cNvCxnSpPr/>
          <p:nvPr/>
        </p:nvCxnSpPr>
        <p:spPr>
          <a:xfrm>
            <a:off x="4015525" y="3213450"/>
            <a:ext cx="20814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9"/>
          <p:cNvSpPr txBox="1"/>
          <p:nvPr/>
        </p:nvSpPr>
        <p:spPr>
          <a:xfrm>
            <a:off x="6083575" y="2766475"/>
            <a:ext cx="22158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5640400" y="626800"/>
            <a:ext cx="2350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Text field to document verbal and/or physical incidents not captured in email, text, photos.</a:t>
            </a:r>
            <a:endParaRPr i="1" sz="1100"/>
          </a:p>
        </p:txBody>
      </p:sp>
      <p:sp>
        <p:nvSpPr>
          <p:cNvPr id="120" name="Google Shape;120;p19"/>
          <p:cNvSpPr txBox="1"/>
          <p:nvPr/>
        </p:nvSpPr>
        <p:spPr>
          <a:xfrm>
            <a:off x="6173800" y="1998400"/>
            <a:ext cx="2350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Add attachment (photo, screenshot of email or text conversation)</a:t>
            </a:r>
            <a:endParaRPr i="1" sz="1100"/>
          </a:p>
        </p:txBody>
      </p:sp>
      <p:sp>
        <p:nvSpPr>
          <p:cNvPr id="121" name="Google Shape;121;p19"/>
          <p:cNvSpPr/>
          <p:nvPr/>
        </p:nvSpPr>
        <p:spPr>
          <a:xfrm>
            <a:off x="2967925" y="3332300"/>
            <a:ext cx="1047600" cy="20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" name="Google Shape;122;p19"/>
          <p:cNvCxnSpPr/>
          <p:nvPr/>
        </p:nvCxnSpPr>
        <p:spPr>
          <a:xfrm>
            <a:off x="4002175" y="3429800"/>
            <a:ext cx="20814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9"/>
          <p:cNvSpPr/>
          <p:nvPr/>
        </p:nvSpPr>
        <p:spPr>
          <a:xfrm>
            <a:off x="2967925" y="4322900"/>
            <a:ext cx="1047600" cy="20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6097600" y="2912800"/>
            <a:ext cx="31539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Previous entries. You can click to open</a:t>
            </a:r>
            <a:r>
              <a:rPr i="1" lang="en" sz="1100"/>
              <a:t> or delete</a:t>
            </a:r>
            <a:r>
              <a:rPr i="1" lang="en" sz="1100"/>
              <a:t>. You cannot edit. </a:t>
            </a:r>
            <a:endParaRPr i="1" sz="1100"/>
          </a:p>
        </p:txBody>
      </p:sp>
      <p:sp>
        <p:nvSpPr>
          <p:cNvPr id="125" name="Google Shape;125;p19"/>
          <p:cNvSpPr txBox="1"/>
          <p:nvPr/>
        </p:nvSpPr>
        <p:spPr>
          <a:xfrm>
            <a:off x="6173800" y="3370000"/>
            <a:ext cx="2350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View attachments associated with older records. </a:t>
            </a:r>
            <a:r>
              <a:rPr i="1" lang="en" sz="1100">
                <a:solidFill>
                  <a:schemeClr val="dk1"/>
                </a:solidFill>
              </a:rPr>
              <a:t>Records show in chronological order by timestamp.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</p:txBody>
      </p:sp>
      <p:sp>
        <p:nvSpPr>
          <p:cNvPr id="126" name="Google Shape;126;p19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</a:t>
            </a:r>
            <a:r>
              <a:rPr b="1" lang="en">
                <a:solidFill>
                  <a:srgbClr val="FF0000"/>
                </a:solidFill>
              </a:rPr>
              <a:t>DRAFT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1331025" y="208200"/>
            <a:ext cx="2885700" cy="472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1483425" y="402875"/>
            <a:ext cx="2545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Make My Case</a:t>
            </a:r>
            <a:endParaRPr b="1" sz="2500"/>
          </a:p>
        </p:txBody>
      </p:sp>
      <p:sp>
        <p:nvSpPr>
          <p:cNvPr id="133" name="Google Shape;133;p20"/>
          <p:cNvSpPr txBox="1"/>
          <p:nvPr/>
        </p:nvSpPr>
        <p:spPr>
          <a:xfrm>
            <a:off x="1651825" y="1024725"/>
            <a:ext cx="2269500" cy="3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you ready</a:t>
            </a:r>
            <a:r>
              <a:rPr lang="en"/>
              <a:t> to share your dossier?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[checklist]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 are ready to submit to a third party, click below. Your dossier and all attachments will be shared with the specified parties via email.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1923675" y="3713350"/>
            <a:ext cx="1665300" cy="5373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I’m ready.</a:t>
            </a:r>
            <a:endParaRPr b="1"/>
          </a:p>
        </p:txBody>
      </p:sp>
      <p:cxnSp>
        <p:nvCxnSpPr>
          <p:cNvPr id="135" name="Google Shape;135;p20"/>
          <p:cNvCxnSpPr>
            <a:stCxn id="134" idx="3"/>
          </p:cNvCxnSpPr>
          <p:nvPr/>
        </p:nvCxnSpPr>
        <p:spPr>
          <a:xfrm flipH="1" rot="10800000">
            <a:off x="3588975" y="2947900"/>
            <a:ext cx="2135100" cy="103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0"/>
          <p:cNvSpPr txBox="1"/>
          <p:nvPr/>
        </p:nvSpPr>
        <p:spPr>
          <a:xfrm>
            <a:off x="5841825" y="2954500"/>
            <a:ext cx="1584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5707400" y="2880550"/>
            <a:ext cx="26994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This button pulls the time-stamped records and photos together into one PDF, which shows up as an attachment on an email. The user can then share via their email to selected parties.</a:t>
            </a:r>
            <a:endParaRPr i="1" sz="1100"/>
          </a:p>
        </p:txBody>
      </p:sp>
      <p:sp>
        <p:nvSpPr>
          <p:cNvPr id="138" name="Google Shape;138;p20"/>
          <p:cNvSpPr txBox="1"/>
          <p:nvPr/>
        </p:nvSpPr>
        <p:spPr>
          <a:xfrm>
            <a:off x="1664950" y="4292775"/>
            <a:ext cx="2135100" cy="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You’ve got this.</a:t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</a:t>
            </a:r>
            <a:r>
              <a:rPr b="1" lang="en">
                <a:solidFill>
                  <a:srgbClr val="FF0000"/>
                </a:solidFill>
              </a:rPr>
              <a:t>DRAFT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/>
          <p:nvPr/>
        </p:nvSpPr>
        <p:spPr>
          <a:xfrm>
            <a:off x="1331025" y="208200"/>
            <a:ext cx="2885700" cy="472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1647450" y="402875"/>
            <a:ext cx="22293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Help</a:t>
            </a:r>
            <a:endParaRPr b="1" sz="2500"/>
          </a:p>
        </p:txBody>
      </p:sp>
      <p:sp>
        <p:nvSpPr>
          <p:cNvPr id="146" name="Google Shape;146;p21"/>
          <p:cNvSpPr txBox="1"/>
          <p:nvPr/>
        </p:nvSpPr>
        <p:spPr>
          <a:xfrm>
            <a:off x="1557825" y="1141500"/>
            <a:ext cx="2457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[FAQ]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</a:t>
            </a:r>
            <a:r>
              <a:rPr b="1" lang="en">
                <a:solidFill>
                  <a:srgbClr val="FF0000"/>
                </a:solidFill>
              </a:rPr>
              <a:t>DRAFT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Next Steps</a:t>
            </a:r>
            <a:endParaRPr b="1"/>
          </a:p>
        </p:txBody>
      </p:sp>
      <p:sp>
        <p:nvSpPr>
          <p:cNvPr id="153" name="Google Shape;153;p22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DRAFT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v1 </a:t>
            </a:r>
            <a:r>
              <a:rPr b="1" lang="en"/>
              <a:t>Anita</a:t>
            </a:r>
            <a:endParaRPr b="1"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build a working prototype that will allow users to use Anita to do the following in an electronic dossier: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Capture time-stamped notes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Securely store photos, screenshots, and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 files with select third parties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v1 Anita</a:t>
            </a:r>
            <a:r>
              <a:rPr lang="en"/>
              <a:t> is a web app to maximize end-user accessibility.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 </a:t>
            </a:r>
            <a:endParaRPr b="1"/>
          </a:p>
        </p:txBody>
      </p:sp>
      <p:sp>
        <p:nvSpPr>
          <p:cNvPr id="160" name="Google Shape;160;p23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DRAFT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v1 </a:t>
            </a:r>
            <a:r>
              <a:rPr b="1" lang="en"/>
              <a:t>Anita: What We Need</a:t>
            </a:r>
            <a:endParaRPr b="1"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seeking $10,000 to develop the </a:t>
            </a:r>
            <a:r>
              <a:rPr b="1" lang="en"/>
              <a:t>Anita</a:t>
            </a:r>
            <a:r>
              <a:rPr lang="en"/>
              <a:t> prototype, and ensure secure storage for user documentation.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Anita is developed by women, for women. All development for this prototype will be completed by the students of </a:t>
            </a:r>
            <a:r>
              <a:rPr lang="en" u="sng">
                <a:solidFill>
                  <a:schemeClr val="hlink"/>
                </a:solidFill>
                <a:hlinkClick r:id="rId3"/>
              </a:rPr>
              <a:t>AnnieCannons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40300" y="13425"/>
            <a:ext cx="16248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v1 DRAFT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029" y="2571750"/>
            <a:ext cx="2428352" cy="171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